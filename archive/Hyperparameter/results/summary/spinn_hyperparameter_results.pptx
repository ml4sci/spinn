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A5FA8"/>
                </a:solidFill>
                <a:latin typeface="Arial"/>
              </a:rPr>
              <a:t>SPINN Circular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618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1F2328"/>
                </a:solidFill>
                <a:latin typeface="Arial"/>
              </a:rPr>
              <a:t>PINN hyperparameter study vs. DEVSIM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86069"/>
                </a:solidFill>
                <a:latin typeface="Arial"/>
              </a:rPr>
              <a:t>Keynote-friendly discussion deck with graph-by-graph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2514600" cy="91440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2852928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RUNS 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3108960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743200"/>
            <a:ext cx="2514600" cy="91440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2852928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VARIANT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3108960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bc_weight_1000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743200"/>
            <a:ext cx="2514600" cy="91440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2852928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108960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0.619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2743200"/>
            <a:ext cx="2514600" cy="91440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2852928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VS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61704" y="3108960"/>
            <a:ext cx="2221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87000"/>
                </a:solidFill>
                <a:latin typeface="Arial"/>
              </a:rPr>
              <a:t>95x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69080"/>
            <a:ext cx="10789920" cy="141732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17880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5FA8"/>
                </a:solidFill>
                <a:latin typeface="Arial"/>
              </a:rPr>
              <a:t>Main Readout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2628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Best DEVSIM agreement came from bc_weight_1000: Phi MSE 0.619, Psi MSE 0.0388.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That is about 95x lower RF-potential MSE than the baseline.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ReLU is the cautionary case: near-zero training loss, but the worst DEVSIM field error.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Among optimizer-only variants, RMSprop had the lowest DEVSIM error: Phi MSE 14.5.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Study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Circular Trap DEVSIM ground truth and Vanilla PINN sweep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429768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8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5FA8"/>
                </a:solidFill>
                <a:latin typeface="Arial"/>
              </a:rPr>
              <a:t>What Was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Ground truth: Circular Trap DEVSIM RF solve with East/West electrodes at 300 V.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PINN target: solve Laplace equation for Phi_RF; compute RF pseudopotential from autograd gradients.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Comparison: evaluate trained PINN at DEVSIM mesh nodes and compute common-point MSE/error maps.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Sweeps: width, depth, activation, boundary-condition weight, optimizer, and learning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57800" cy="4297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435608"/>
            <a:ext cx="4928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Arial"/>
              </a:rPr>
              <a:t>How To Read The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8920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Convergence plots explain training behavior.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Phi/Psi MSE plots explain agreement with DEVSIM.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Appendix slides show raw PINN minus DEVSIM maps for each variant.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Normalized Convergence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Each curve is total loss divided by that run's initial total loss.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ormalized_loss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13518"/>
            <a:ext cx="7498079" cy="40424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325880"/>
            <a:ext cx="3611880" cy="452628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435608"/>
            <a:ext cx="3282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Graph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Normalized loss lets runs with different starting losses be compared on the same scale.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Fast normalized convergence did not always mean physical accuracy.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ReLU ended at 3.58e-08 normalized loss but failed the DEVSIM comparison.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BC weight 1000 also converged strongly and was physically accurate: Phi MSE 0.619.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RF Potential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MSE of Phi_PINN minus Phi_DEVSIM on common DEVSIM mesh nodes.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hi_mse_by_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6119"/>
            <a:ext cx="7498079" cy="39772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325880"/>
            <a:ext cx="3611880" cy="452628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435608"/>
            <a:ext cx="3282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Graph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Lowest RF-potential error: bc_weight_1000 at Phi MSE 0.619.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Largest RF-potential error: activation_relu at Phi MSE 7.2e+03.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Boundary-condition weighting dominated field accuracy in this first sweep.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Wider networks and sinusoidal activations were the strongest architecture-side options.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RF Pseudopotential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MSE of gradient-derived RF pseudopotential in eV.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si_mse_by_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6119"/>
            <a:ext cx="7498079" cy="39772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325880"/>
            <a:ext cx="3611880" cy="452628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435608"/>
            <a:ext cx="3282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Graph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Lowest pseudopotential error: bc_weight_1000 at Psi MSE 0.0388.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Pseudopotential depends on gradients, so it punishes field-shape errors more than voltage MSE alone.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The same variants that improved Phi generally improved Psi, but high-frequency instability can still appear in gradients.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Final Normalized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Final training loss normalized by each run's initial total loss.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nal_normalized_loss_by_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6119"/>
            <a:ext cx="7498079" cy="39772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325880"/>
            <a:ext cx="3611880" cy="452628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435608"/>
            <a:ext cx="3282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Graph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Final training loss alone is not a reliable model-selection criterion here.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ReLU is artificially favored because the second derivative of ReLU is zero almost everywhere.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The best physical run, bc_weight_1000, also had a low final normalized loss, so it is the most credible winner.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Training Loss vs. Field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Log-log comparison of final normalized loss against DEVSIM RF-potential MSE.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ss_vs_phi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92431"/>
            <a:ext cx="7498079" cy="42846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92440" y="1325880"/>
            <a:ext cx="3611880" cy="452628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7032" y="1435608"/>
            <a:ext cx="3282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Graph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783080"/>
            <a:ext cx="3246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Ideal runs sit toward the lower-left: low training loss and low DEVSIM error.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ReLU sits far from the physical winner despite its tiny training loss, exposing a residual-definition failure.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BC weight 1000 is the cleanest point because it pairs low loss with the lowest field error.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Use this graph as the model-selection warning slide: optimization metrics need ground-truth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Best Runs By DEVSIM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RF-potential MSE at DEVSIM mesh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3258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3258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Opt.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32588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32588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BC wt.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3258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29800" y="13258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673352"/>
            <a:ext cx="11064240" cy="384048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099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bc_weight_1000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7099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tanh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7099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70992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0992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70992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1e+03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7099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0.619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170992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0.0388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057400"/>
            <a:ext cx="1106424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09397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width_256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09397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tanh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09397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adam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32120" y="20939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256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09397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209397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09397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09397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0.955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441448"/>
            <a:ext cx="1106424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247802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activation_sinusoidal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247802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sinusoidal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247802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adam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24780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47802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2478024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47802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12.3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47802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1.75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2825496"/>
            <a:ext cx="1106424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28620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optimizer_rmsprop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63240" y="2862072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tanh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2862072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rmsprop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286207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862072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2360" y="286207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2862072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14.5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2862072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2.38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3209544"/>
            <a:ext cx="1106424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24612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optimizer_adamw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63240" y="324612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tanh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324612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adamw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32120" y="324612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3246120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324612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324612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21.9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324612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3593592"/>
            <a:ext cx="1106424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363016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baseline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363016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tanh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97680" y="363016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adam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32120" y="363016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92240" y="3630168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2360" y="363016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63016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58.9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3630168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6.89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3977640"/>
            <a:ext cx="1106424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401421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width_64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63240" y="401421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tanh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0" y="401421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adam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2120" y="401421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4014216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2360" y="4014216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95360" y="401421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69.2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4014216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7.33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6928" y="4361688"/>
            <a:ext cx="11064240" cy="384048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" y="43982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lr_3e-3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063240" y="439826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tanh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97680" y="439826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adam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32120" y="4398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4398264"/>
            <a:ext cx="960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52360" y="4398264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95360" y="439826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142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829800" y="4398264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6.57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58368" y="5257800"/>
            <a:ext cx="10835640" cy="82296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2960" y="5367528"/>
            <a:ext cx="105064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5FA8"/>
                </a:solidFill>
                <a:latin typeface="Arial"/>
              </a:rPr>
              <a:t>Interpretation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" y="5715000"/>
            <a:ext cx="10469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The best run is not just a lower-loss run; it also wins on both Phi and gradient-derived Psi.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The top group includes one BC-weight setting, one width setting, one activation setting, and two optimizer settings.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Baseline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DEVSIM RF-potential 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58.9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PSI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6.89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2148840" cy="8686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WORST PHI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23737"/>
                </a:solidFill>
                <a:latin typeface="Arial"/>
              </a:rPr>
              <a:t>58.9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Final Norm.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AUC Norm.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80360"/>
            <a:ext cx="10149840" cy="402336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0.0188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3.48e+03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58.9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6.89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074920"/>
            <a:ext cx="10789920" cy="9601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8464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532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Baseline gives a useful reference: Phi MSE 58.9, Psi MSE 6.89.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Several variants beat the baseline decisively, so the PINN is hyperparameter-sensitive.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Width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DEVSIM RF-potential 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width_256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10.4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PSI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0.955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2148840" cy="8686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WORST PHI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23737"/>
                </a:solidFill>
                <a:latin typeface="Arial"/>
              </a:rPr>
              <a:t>334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Final Norm.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AUC Norm.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80360"/>
            <a:ext cx="10149840" cy="402336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width_256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0.0685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2.78e+03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10.4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0.955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282696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1927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width_64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5.37e+03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69.2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7.33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3685032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216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width_32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0.0767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7.27e+03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334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22.5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74920"/>
            <a:ext cx="10789920" cy="9601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8464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532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Increasing width helped the physical field much more than it helped final training loss.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Width 256 was best: Phi MSE 10.4, compared with 334 for the worst width run.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Depth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DEVSIM RF-potential 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depth_6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886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PSI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18.3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2148840" cy="8686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WORST PHI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23737"/>
                </a:solidFill>
                <a:latin typeface="Arial"/>
              </a:rPr>
              <a:t>2.95e+03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Final Norm.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AUC Norm.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80360"/>
            <a:ext cx="10149840" cy="402336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depth_6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7.87e+03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886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18.3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282696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1927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depth_8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3.41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1.26e+04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2.81e+03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44.4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3685032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216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depth_2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0.478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9.79e+03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2.95e+03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65.4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74920"/>
            <a:ext cx="10789920" cy="9601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8464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532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Depth variants were unstable in this setup; deeper did not mean better.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The best depth-only run was depth_6, but it still lagged the baseline by DEVSIM error.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Activation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DEVSIM RF-potential 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activation_sinusoidal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12.3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PSI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2148840" cy="8686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WORST PHI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23737"/>
                </a:solidFill>
                <a:latin typeface="Arial"/>
              </a:rPr>
              <a:t>7.2e+03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Final Norm.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AUC Norm.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80360"/>
            <a:ext cx="10149840" cy="402336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activation_sinusoidal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0.0089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3.03e+03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12.3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1.75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282696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1927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activation_sigmoid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0.486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1.01e+04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3.1e+03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65.6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3685032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216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activation_relu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3.58e-08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7.2e+03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3.97e+03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74920"/>
            <a:ext cx="10789920" cy="9601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8464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532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Sinusoidal activation was the best activation-only variant for field accuracy.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ReLU produced misleadingly tiny loss because the Laplace residual becomes degenerate under second derivatives.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BC Weight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DEVSIM RF-potential 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bc_weight_1000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0.619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PSI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0.0388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2148840" cy="8686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WORST PHI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23737"/>
                </a:solidFill>
                <a:latin typeface="Arial"/>
              </a:rPr>
              <a:t>2.44e+03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Final Norm.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AUC Norm.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80360"/>
            <a:ext cx="10149840" cy="402336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bc_weight_1000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0.00126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2.09e+03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0.619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0.0388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282696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1927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bc_weight_10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0.0814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5.28e+03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335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19.3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3685032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216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bc_weight_1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0.379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9.75e+03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2.44e+03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63.1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74920"/>
            <a:ext cx="10789920" cy="9601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8464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532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Boundary-condition weight was the strongest lever in this sweep.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Too little BC weight let boundary mismatch dominate; 1000 gave the cleanest DEVSIM match.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Optimizer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DEVSIM RF-potential 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optimizer_rmsprop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14.5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PSI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2.38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2148840" cy="8686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WORST PHI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23737"/>
                </a:solidFill>
                <a:latin typeface="Arial"/>
              </a:rPr>
              <a:t>3.02e+03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Final Norm.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AUC Norm.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80360"/>
            <a:ext cx="10149840" cy="402336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optimizer_rmsprop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0.0145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1.94e+03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14.5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2.38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282696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1927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optimizer_adamw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0.0103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3.63e+03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21.9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3.33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3685032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216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optimizer_sgd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0.481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1.01e+04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3.02e+03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65.5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74920"/>
            <a:ext cx="10789920" cy="9601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8464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532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Optimizer choice changed both convergence and physical accuracy.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RMSprop had the best optimizer-only DEVSIM error; SGD plateaued with large boundary error.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Learning Rate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Ranked by DEVSIM RF-potential 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lr_3e-3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1810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PHI 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234440"/>
            <a:ext cx="2148840" cy="86868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982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BEST PSI 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982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6.57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234440"/>
            <a:ext cx="2148840" cy="868680"/>
          </a:xfrm>
          <a:prstGeom prst="roundRect">
            <a:avLst/>
          </a:prstGeom>
          <a:solidFill>
            <a:srgbClr val="FFEBEB"/>
          </a:solidFill>
          <a:ln w="12700">
            <a:solidFill>
              <a:srgbClr val="B2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1344168"/>
            <a:ext cx="18562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WORST PHI 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160020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B23737"/>
                </a:solidFill>
                <a:latin typeface="Arial"/>
              </a:rPr>
              <a:t>1.95e+03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Variant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Final Norm.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514600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AUC Norm.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Phi MSE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5146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2A5FA8"/>
                </a:solidFill>
                <a:latin typeface="Arial"/>
              </a:rPr>
              <a:t>Psi MSE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2880360"/>
            <a:ext cx="10149840" cy="402336"/>
          </a:xfrm>
          <a:prstGeom prst="rect">
            <a:avLst/>
          </a:prstGeom>
          <a:solidFill>
            <a:srgbClr val="E8F6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291693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lr_3e-3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0.493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916936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3.43e+03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1693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6.57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3282696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319272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lr_3e-4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0.149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3319272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6.49e+03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358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31927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21.3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" y="3685032"/>
            <a:ext cx="10149840" cy="402336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3721608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lr_1e-4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0.251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3721608"/>
            <a:ext cx="1965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1.05e+04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1.95e+03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2160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50.2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74920"/>
            <a:ext cx="10789920" cy="960120"/>
          </a:xfrm>
          <a:prstGeom prst="roundRect">
            <a:avLst/>
          </a:prstGeom>
          <a:solidFill>
            <a:srgbClr val="FFF6E1"/>
          </a:solidFill>
          <a:ln w="12700">
            <a:solidFill>
              <a:srgbClr val="B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184648"/>
            <a:ext cx="10460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87000"/>
                </a:solidFill>
                <a:latin typeface="Arial"/>
              </a:rPr>
              <a:t>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5321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Lower learning rates were smoother but too slow for this fixed training budget.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The high-rate run moved fastest but had large PDE spikes; it still beat the lower-rate runs by DEVSIM error.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Discussion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Questions to bring to the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49240" cy="443484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35608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A5FA8"/>
                </a:solidFill>
                <a:latin typeface="Arial"/>
              </a:rP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Do we trust BC-weight 1000 as physically better, or should we test robustness across seeds?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Should ReLU be excluded for second-derivative PINNs, or retained only as a negative control?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Is RMSprop genuinely better here, or should it be followed by LBFGS refinement like many PINN workflows?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166360" cy="4434840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435608"/>
            <a:ext cx="48371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Arial"/>
              </a:rPr>
              <a:t>Next Sweep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800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Repeat top variants with multiple random seeds.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Add Adam to LBFGS and RMSprop to LBFGS two-stage optimizer runs.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328"/>
                </a:solidFill>
                <a:latin typeface="Arial"/>
              </a:rPr>
              <a:t>Try adaptive loss balancing between PDE and boundary losses.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4028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A5FA8"/>
                </a:solidFill>
                <a:latin typeface="Arial"/>
              </a:rPr>
              <a:t>Error Map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299923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F2328"/>
                </a:solidFill>
                <a:latin typeface="Arial"/>
              </a:rPr>
              <a:t>Each slide shows raw PINN minus DEVSIM error maps and a one-line interpretation.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activation_relu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7.2e+03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3.97e+03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3.58e-08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Misleading loss case: the training objective collapses, but the field error is the worst in the sweep.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activation_sigmoid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3.1e+03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65.6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0.486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0.486; Phi MSE 3.1e+03; Psi MSE 65.6.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activation_sinusoidal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12.3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1.75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0.0089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Best activation-only result; smooth derivatives help the PDE residual and gradient-derived pseudopotential.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58.9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6.89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0.0188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Reference run for interpreting all variants; several choices beat it by large margins.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bc_weight_1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2.44e+03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63.1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0.379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0.379; Phi MSE 2.44e+03; Psi MSE 63.1.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bc_weight_10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335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19.3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0.0814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0.0814; Phi MSE 335; Psi MSE 19.3.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bc_weight_1000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0.619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0.0388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0.00126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Best overall DEVSIM match; boundary enforcement was strong without destroying the learned field.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depth_2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2.95e+03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65.4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0.478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0.478; Phi MSE 2.95e+03; Psi MSE 65.4.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depth_6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886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18.3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2.4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2.4; Phi MSE 886; Psi MSE 18.3.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depth_8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2.81e+03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44.4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3.41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3.41; Phi MSE 2.81e+03; Psi MSE 44.4.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lr_1e-4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1.95e+03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50.2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0.251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0.251; Phi MSE 1.95e+03; Psi MSE 50.2.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lr_3e-3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6.57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0.493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0.493; Phi MSE 142; Psi MSE 6.57.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lr_3e-4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358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21.3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0.149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0.149; Phi MSE 358; Psi MSE 21.3.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optimizer_adamw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21.9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3.33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0.0103; Phi MSE 21.9; Psi MSE 3.33.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optimizer_rmsprop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14.5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2.38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0.0145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0.0145; Phi MSE 14.5; Psi MSE 2.38.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optimizer_sgd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3.02e+03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65.5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0.481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SGD plateaued; comparison confirms poor field accuracy despite completing the same training budget.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width_256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10.4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0.955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0.0685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Best architecture-width result; wider representation improved field shape despite a higher final loss.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width_32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334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22.5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0.0767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0.0767; Phi MSE 334; Psi MSE 22.5.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2328"/>
                </a:solidFill>
                <a:latin typeface="Arial"/>
              </a:rPr>
              <a:t>width_64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86069"/>
                </a:solidFill>
                <a:latin typeface="Arial"/>
              </a:rPr>
              <a:t>Raw error maps: PINN minus DEVSIM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69264"/>
            <a:ext cx="11155680" cy="9144"/>
          </a:xfrm>
          <a:prstGeom prst="rect">
            <a:avLst/>
          </a:prstGeom>
          <a:solidFill>
            <a:srgbClr val="D6DCE2"/>
          </a:solidFill>
          <a:ln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phi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4308"/>
            <a:ext cx="5669280" cy="1700784"/>
          </a:xfrm>
          <a:prstGeom prst="rect">
            <a:avLst/>
          </a:prstGeom>
        </p:spPr>
      </p:pic>
      <p:pic>
        <p:nvPicPr>
          <p:cNvPr id="6" name="Picture 5" descr="comparison_psi_rf_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4308"/>
            <a:ext cx="5669280" cy="17007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PHI 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69.2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5596128"/>
            <a:ext cx="2057400" cy="621792"/>
          </a:xfrm>
          <a:prstGeom prst="roundRect">
            <a:avLst/>
          </a:prstGeom>
          <a:solidFill>
            <a:srgbClr val="E8F6EE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950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PSI 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D32"/>
                </a:solidFill>
                <a:latin typeface="Arial"/>
              </a:rPr>
              <a:t>7.33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5596128"/>
            <a:ext cx="2057400" cy="621792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2A5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5705856"/>
            <a:ext cx="1764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586069"/>
                </a:solidFill>
                <a:latin typeface="Arial"/>
              </a:rPr>
              <a:t>NORM.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5961888"/>
            <a:ext cx="1764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A5FA8"/>
                </a:solidFill>
                <a:latin typeface="Arial"/>
              </a:rPr>
              <a:t>0.02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5632704"/>
            <a:ext cx="4434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F2328"/>
                </a:solidFill>
                <a:latin typeface="Arial"/>
              </a:rPr>
              <a:t>Final norm. loss 0.02; Phi MSE 69.2; Psi MSE 7.33. Use error maps to locate where residual field error concentrates.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92240"/>
            <a:ext cx="5669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86069"/>
                </a:solidFill>
                <a:latin typeface="Arial"/>
              </a:rPr>
              <a:t>SPINN Circular Trap PINN Hyperparameter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